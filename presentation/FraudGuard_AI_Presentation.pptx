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3e6bda0b364584" /><Relationship Type="http://schemas.openxmlformats.org/officeDocument/2006/relationships/extended-properties" Target="/docProps/app.xml" Id="Re448478186864146" /><Relationship Type="http://schemas.openxmlformats.org/officeDocument/2006/relationships/officeDocument" Target="/ppt/presentation.xml" Id="R0e43dcb260ee40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ca3dea94bf4dcf"/>
  </p:sldMasterIdLst>
  <p:notesMasterIdLst>
    <p:notesMasterId xmlns:r="http://schemas.openxmlformats.org/officeDocument/2006/relationships" r:id="R4aa919bf952f402e"/>
  </p:notesMasterIdLst>
  <p:sldIdLst>
    <p:sldId xmlns:r="http://schemas.openxmlformats.org/officeDocument/2006/relationships" id="256" r:id="Ra3c1d8fa39f44836"/>
    <p:sldId xmlns:r="http://schemas.openxmlformats.org/officeDocument/2006/relationships" id="257" r:id="R18b9d2a921054c35"/>
    <p:sldId xmlns:r="http://schemas.openxmlformats.org/officeDocument/2006/relationships" id="258" r:id="Rdbc511c39c7f4b0c"/>
    <p:sldId xmlns:r="http://schemas.openxmlformats.org/officeDocument/2006/relationships" id="259" r:id="R6944a3e01a9446c2"/>
    <p:sldId xmlns:r="http://schemas.openxmlformats.org/officeDocument/2006/relationships" id="260" r:id="R5eb4e49aff774bd2"/>
    <p:sldId xmlns:r="http://schemas.openxmlformats.org/officeDocument/2006/relationships" id="261" r:id="Rf0890133d6bb49ea"/>
    <p:sldId xmlns:r="http://schemas.openxmlformats.org/officeDocument/2006/relationships" id="262" r:id="R4d0d9aabc5b64782"/>
    <p:sldId xmlns:r="http://schemas.openxmlformats.org/officeDocument/2006/relationships" id="263" r:id="Rac1f9a2652b744aa"/>
    <p:sldId xmlns:r="http://schemas.openxmlformats.org/officeDocument/2006/relationships" id="264" r:id="Rb098402e3ebf4947"/>
    <p:sldId xmlns:r="http://schemas.openxmlformats.org/officeDocument/2006/relationships" id="265" r:id="Rdb2ac8358ef34e3c"/>
    <p:sldId xmlns:r="http://schemas.openxmlformats.org/officeDocument/2006/relationships" id="266" r:id="Rf6739aec30ff4ee2"/>
    <p:sldId xmlns:r="http://schemas.openxmlformats.org/officeDocument/2006/relationships" id="267" r:id="Rac067266e6a545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266a14eab54151" /><Relationship Type="http://schemas.openxmlformats.org/officeDocument/2006/relationships/slideMaster" Target="/ppt/slideMasters/slideMaster1.xml" Id="R2aca3dea94bf4dcf" /><Relationship Type="http://schemas.openxmlformats.org/officeDocument/2006/relationships/notesMaster" Target="/ppt/notesMasters/notesMaster1.xml" Id="R4aa919bf952f402e" /><Relationship Type="http://schemas.openxmlformats.org/officeDocument/2006/relationships/presProps" Target="/ppt/presProps.xml" Id="R60dde883f4c84cf4" /><Relationship Type="http://schemas.openxmlformats.org/officeDocument/2006/relationships/tableStyles" Target="/ppt/tableStyles.xml" Id="R134f471fcd9a4baf" /><Relationship Type="http://schemas.openxmlformats.org/officeDocument/2006/relationships/slide" Target="/ppt/slides/slide1.xml" Id="Ra3c1d8fa39f44836" /><Relationship Type="http://schemas.openxmlformats.org/officeDocument/2006/relationships/slide" Target="/ppt/slides/slide2.xml" Id="R18b9d2a921054c35" /><Relationship Type="http://schemas.openxmlformats.org/officeDocument/2006/relationships/slide" Target="/ppt/slides/slide3.xml" Id="Rdbc511c39c7f4b0c" /><Relationship Type="http://schemas.openxmlformats.org/officeDocument/2006/relationships/slide" Target="/ppt/slides/slide4.xml" Id="R6944a3e01a9446c2" /><Relationship Type="http://schemas.openxmlformats.org/officeDocument/2006/relationships/slide" Target="/ppt/slides/slide5.xml" Id="R5eb4e49aff774bd2" /><Relationship Type="http://schemas.openxmlformats.org/officeDocument/2006/relationships/slide" Target="/ppt/slides/slide6.xml" Id="Rf0890133d6bb49ea" /><Relationship Type="http://schemas.openxmlformats.org/officeDocument/2006/relationships/slide" Target="/ppt/slides/slide7.xml" Id="R4d0d9aabc5b64782" /><Relationship Type="http://schemas.openxmlformats.org/officeDocument/2006/relationships/slide" Target="/ppt/slides/slide8.xml" Id="Rac1f9a2652b744aa" /><Relationship Type="http://schemas.openxmlformats.org/officeDocument/2006/relationships/slide" Target="/ppt/slides/slide9.xml" Id="Rb098402e3ebf4947" /><Relationship Type="http://schemas.openxmlformats.org/officeDocument/2006/relationships/slide" Target="/ppt/slides/slide10.xml" Id="Rdb2ac8358ef34e3c" /><Relationship Type="http://schemas.openxmlformats.org/officeDocument/2006/relationships/slide" Target="/ppt/slides/slide11.xml" Id="Rf6739aec30ff4ee2" /><Relationship Type="http://schemas.openxmlformats.org/officeDocument/2006/relationships/slide" Target="/ppt/slides/slide12.xml" Id="Rac067266e6a545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a4639233eb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78070e6faa43a7" /><Relationship Type="http://schemas.openxmlformats.org/officeDocument/2006/relationships/notesMaster" Target="/ppt/notesMasters/notesMaster1.xml" Id="Rf326a01141ba4d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e58d3d98094b2d" /><Relationship Type="http://schemas.openxmlformats.org/officeDocument/2006/relationships/notesMaster" Target="/ppt/notesMasters/notesMaster1.xml" Id="R94cc16f92cbd4f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ae8bfa72024a30" /><Relationship Type="http://schemas.openxmlformats.org/officeDocument/2006/relationships/notesMaster" Target="/ppt/notesMasters/notesMaster1.xml" Id="R1fed1917669844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f901189f6c404d" /><Relationship Type="http://schemas.openxmlformats.org/officeDocument/2006/relationships/notesMaster" Target="/ppt/notesMasters/notesMaster1.xml" Id="R0dc802ff20c440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54e0efc2974bd4" /><Relationship Type="http://schemas.openxmlformats.org/officeDocument/2006/relationships/notesMaster" Target="/ppt/notesMasters/notesMaster1.xml" Id="Ree0ad075745e41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713ddf53c24ffe" /><Relationship Type="http://schemas.openxmlformats.org/officeDocument/2006/relationships/notesMaster" Target="/ppt/notesMasters/notesMaster1.xml" Id="Ra91d569f76a24d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226e8b477f45c0" /><Relationship Type="http://schemas.openxmlformats.org/officeDocument/2006/relationships/notesMaster" Target="/ppt/notesMasters/notesMaster1.xml" Id="Rc374785c470b40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fb64d69a4a41aa" /><Relationship Type="http://schemas.openxmlformats.org/officeDocument/2006/relationships/notesMaster" Target="/ppt/notesMasters/notesMaster1.xml" Id="R16f78b9ad13842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8f137cae204e06" /><Relationship Type="http://schemas.openxmlformats.org/officeDocument/2006/relationships/notesMaster" Target="/ppt/notesMasters/notesMaster1.xml" Id="R4a6439ba48af43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0b8ec92d42400e" /><Relationship Type="http://schemas.openxmlformats.org/officeDocument/2006/relationships/notesMaster" Target="/ppt/notesMasters/notesMaster1.xml" Id="Rf9157ec008cb48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f2fc06df0d46c2" /><Relationship Type="http://schemas.openxmlformats.org/officeDocument/2006/relationships/notesMaster" Target="/ppt/notesMasters/notesMaster1.xml" Id="R9913f1ca287444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4f16c194714c40" /><Relationship Type="http://schemas.openxmlformats.org/officeDocument/2006/relationships/notesMaster" Target="/ppt/notesMasters/notesMaster1.xml" Id="R59326f9235cb4c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details are based on the supplied workspace README and PROJECT_REPORT.md. Author names and journal details were supplied in the request; bibliographic accuracy should be checked before academic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class imbalance figure and problem framing are supplied in the project abstract.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are project-reported, not independently recalculated in this presentation. The brief states evaluation on an isolated test partition of PaySim.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the project report’s description of conventional rule systems, standalone classifiers, and analyst workflow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report describes train-only fitting and SMOTE on the training partition. It also lists soft voting with equal default weights and a calibrated threshold.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summarized from the workspace README and PROJECT_REPORT.md. The project describes the ML service as Flask/FastAPI and the Java service as Spring Boot with JWT/RBAC; persistence is MySQL with an embedded H2 option in local mode.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names and functions are drawn from the README and PROJECT_REPORT.md.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is intended as an analytical aid. The report explicitly describes analyst review and notes synthetic-data and explainability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1–4 are listed in the project report. The author/journal/volume citation in the prompt was retained as user-supplied and requires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959733e6f4a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dd610c78447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de551e11e41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6e313d2a54a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31cbc942a14f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ce64327a042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4654FB-7FC1-4BA3-A8A8-55F8E1E303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913C1A-228F-4C00-80B4-6BFC8D5507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4069B6-108D-4D87-99A7-2A0EE59EFE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9500D0-AF69-4713-A967-6F744F9873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E3EE0D-02B6-4137-8A86-3A9D08B15E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66E000-6AA4-420B-A01C-802BCE6963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017099-143A-444A-9D85-DBFC2C1F35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6F46D7-9884-421B-9EB4-B31568D5F2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A2B71E-0825-400B-B4D5-DC4C6C485A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7611EA-4CF9-4104-A286-EE8AF20695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b03494e4d34398" /><Relationship Type="http://schemas.openxmlformats.org/officeDocument/2006/relationships/slideLayout" Target="/ppt/slideLayouts/slideLayout1.xml" Id="Rf15cfe26bc8c4707" /><Relationship Type="http://schemas.openxmlformats.org/officeDocument/2006/relationships/slideLayout" Target="/ppt/slideLayouts/slideLayout2.xml" Id="Re90f7ae6bf294e76" /><Relationship Type="http://schemas.openxmlformats.org/officeDocument/2006/relationships/slideLayout" Target="/ppt/slideLayouts/slideLayout3.xml" Id="Rafabba0749f9426e" /><Relationship Type="http://schemas.openxmlformats.org/officeDocument/2006/relationships/slideLayout" Target="/ppt/slideLayouts/slideLayout4.xml" Id="R88e1e46b5cd24803" /><Relationship Type="http://schemas.openxmlformats.org/officeDocument/2006/relationships/slideLayout" Target="/ppt/slideLayouts/slideLayout5.xml" Id="Ra55e441bd92f4113" /><Relationship Type="http://schemas.openxmlformats.org/officeDocument/2006/relationships/slideLayout" Target="/ppt/slideLayouts/slideLayout6.xml" Id="Rffb624e46be24f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5cfe26bc8c4707"/>
    <p:sldLayoutId xmlns:r="http://schemas.openxmlformats.org/officeDocument/2006/relationships" id="2147483650" r:id="Re90f7ae6bf294e76"/>
    <p:sldLayoutId xmlns:r="http://schemas.openxmlformats.org/officeDocument/2006/relationships" id="2147483651" r:id="Rafabba0749f9426e"/>
    <p:sldLayoutId xmlns:r="http://schemas.openxmlformats.org/officeDocument/2006/relationships" id="2147483652" r:id="R88e1e46b5cd24803"/>
    <p:sldLayoutId xmlns:r="http://schemas.openxmlformats.org/officeDocument/2006/relationships" id="2147483653" r:id="Ra55e441bd92f4113"/>
    <p:sldLayoutId xmlns:r="http://schemas.openxmlformats.org/officeDocument/2006/relationships" id="2147483654" r:id="Rffb624e46be24f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9556b4d744ab1" /><Relationship Type="http://schemas.openxmlformats.org/officeDocument/2006/relationships/notesSlide" Target="/ppt/notesSlides/notesSlide1.xml" Id="Rbb503083b56540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63d44a0df24820" /><Relationship Type="http://schemas.openxmlformats.org/officeDocument/2006/relationships/notesSlide" Target="/ppt/notesSlides/notesSlide2.xml" Id="R41ece54335814c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ad25251884f2a" /><Relationship Type="http://schemas.openxmlformats.org/officeDocument/2006/relationships/notesSlide" Target="/ppt/notesSlides/notesSlide3.xml" Id="R3653b61cd67342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446e1cb1c4d7c" /><Relationship Type="http://schemas.openxmlformats.org/officeDocument/2006/relationships/notesSlide" Target="/ppt/notesSlides/notesSlide4.xml" Id="R2f1c4f700d1a46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4a494d7334307" /><Relationship Type="http://schemas.openxmlformats.org/officeDocument/2006/relationships/notesSlide" Target="/ppt/notesSlides/notesSlide5.xml" Id="R005b411bffda48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297d04947443f4" /><Relationship Type="http://schemas.openxmlformats.org/officeDocument/2006/relationships/notesSlide" Target="/ppt/notesSlides/notesSlide6.xml" Id="R7c4ef3853d5b41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b85511da4441c5" /><Relationship Type="http://schemas.openxmlformats.org/officeDocument/2006/relationships/notesSlide" Target="/ppt/notesSlides/notesSlide7.xml" Id="R6b5898c57c1d40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f8d17293884980" /><Relationship Type="http://schemas.openxmlformats.org/officeDocument/2006/relationships/notesSlide" Target="/ppt/notesSlides/notesSlide8.xml" Id="R6ba3ce6099bc49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d5a9c1d8646ed" /><Relationship Type="http://schemas.openxmlformats.org/officeDocument/2006/relationships/notesSlide" Target="/ppt/notesSlides/notesSlide9.xml" Id="Ref8a58b1a29a42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6ad1399624e81" /><Relationship Type="http://schemas.openxmlformats.org/officeDocument/2006/relationships/notesSlide" Target="/ppt/notesSlides/notesSlide10.xml" Id="R48b6f94fc1da40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23bbba85864e6d" /><Relationship Type="http://schemas.openxmlformats.org/officeDocument/2006/relationships/notesSlide" Target="/ppt/notesSlides/notesSlide11.xml" Id="R2fc0f930d44f45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78a2d69e142b7" /><Relationship Type="http://schemas.openxmlformats.org/officeDocument/2006/relationships/notesSlide" Target="/ppt/notesSlides/notesSlide12.xml" Id="Rdb67e9b25deb47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C0DB8-658C-46E6-BD32-17C2E52D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31C69-6982-4504-9AC2-4DC5AF4E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FRAUDGUARD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DA6B2-4D44-462B-BBA6-7AB0BE7B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Online Payment Fraud</a:t>
            </a:r>
          </a:p>
          <a:p xmlns:a="http://schemas.openxmlformats.org/drawingml/2006/main">
            <a:pPr algn="l">
              <a:defRPr sz="36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Detection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9467F-144B-4124-8D19-B6A20330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Ensemble machine learning with a secure, auditable full-stack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76D38-FE73-42EB-8F84-2C574DD9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9EDE6-5D03-4381-81E4-FAD753A9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Project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7D25E-E5EB-49FD-94BB-0DE13F0F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AI • PaySim • CatBoost + XGBoost • Soft Voting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2EE58-BE9E-49EB-96FA-8559BBD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Authors listed in supplied brief: Yan Liu, Jing Li, Jeevanthi Srikanth, Hema Purnima Jethanil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6F3C0-96E7-4084-A526-8868A099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62075"/>
            <a:ext cx="2667000" cy="2667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4A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9AA85-441D-4292-9657-75019D0D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43075"/>
            <a:ext cx="1905000" cy="190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D6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3DD0F-700C-4D70-A56E-9FDA4A45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74F"/>
          </a:solidFill>
          <a:ln xmlns:a="http://schemas.openxmlformats.org/drawingml/2006/main" w="19050">
            <a:solidFill>
              <a:srgbClr val="62A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9CA69-9A44-418C-87E2-7966D157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74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FG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81ABB-581D-4565-AF40-CDBCE1DF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62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800CC-2E01-4644-A7D0-E0490868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714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C08CC-7F12-48F3-9523-F96248DD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48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D06F3-17FC-44E7-88AC-5BE71445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905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E0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8E4CF-55D0-449B-BFEA-5B748F3B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095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A6294-B0B4-4C79-A918-92014B87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76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807795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195581-BBFC-4EE6-9BD3-A7C1723E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B128B-A0F0-4369-89F5-04186C92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F5D84-967B-44A4-BBB5-54440B75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Presentation outline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26EAA-DB85-4598-B241-74EB440B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CF0F7-C74F-4818-AFFA-DDD3A0C4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BCB"/>
                </a:solidFill>
                <a:latin typeface="Arial"/>
                <a:ea typeface="Arial"/>
                <a:cs typeface="Arial"/>
              </a:rPr>
              <a:t>FRAUDGUARD AI  •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14927-D39D-4730-9044-61B82371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720DA-A640-4D58-AA96-EB29AB1C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7CE98-89DD-42A5-AECA-9CFE5A6B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621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CF548-50EC-4389-BFA3-11D56001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288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D6932-3EAE-41ED-976E-65CC490D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DE0D1-B6E5-48F7-B715-FA785A05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003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Abstract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B1617-BBFB-4B3D-83C8-76913222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670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918A3-DD1D-4183-84BD-BAC2F9A7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2407F-DC19-429E-9E02-6F19D66B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385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F2545-8CF0-4B24-92D0-78D475ED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052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BF036-D415-4C61-B511-5C4841C5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7B631-8D91-4D8C-9CAE-19B1A11A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767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Existing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DF77F-1CF3-4462-AD38-344A8D27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434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DF8B6-99A4-4042-A280-6D552C22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58ECF-0795-4914-811F-F33B2EB7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149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Proposed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56593-78FB-485D-913B-B306F382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81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05CCB-6497-4E29-BB26-01676E85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5ADD5-269A-4807-AD71-B55E080A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621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Architecture Diagram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495C8-9F4E-4F3F-8F80-50DFA366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288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1BD61-6C57-49B5-B110-E2E842BC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6A9705-74E4-41AD-8C15-87B8A177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03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Language &amp; Software Requirements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44F727-26B3-4BCD-92A9-5D741309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532565-E098-41E8-83CE-BE7D1EC0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DDC5B-6EBA-4326-B833-3F456EFA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385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Modules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46B82-E0B2-489D-8B29-8F1FD097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BCE688-9108-45B6-B47E-92A4E4E8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AD014A-877A-4603-AAC6-7F851FAB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767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43E866-B466-4461-A76F-0E202201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2E2463-BCAE-43EA-B808-58C5ADD9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24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252CF4-60FF-4A5E-9770-D7488756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149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60DB39-2844-4659-BFAD-360558B1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81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6665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0D813-D80D-4371-A1EE-441D7DB4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BCC23-64E5-42BB-B32A-A8F0D658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01 ·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2C22D-49ED-45C7-B4CF-86DC771D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A6B6D-3CE1-4296-92DE-7144D9F4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DD5D3-9A50-4C16-98E9-5F7FC2AB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BCB"/>
                </a:solidFill>
                <a:latin typeface="Arial"/>
                <a:ea typeface="Arial"/>
                <a:cs typeface="Arial"/>
              </a:rPr>
              <a:t>FRAUDGUARD AI  •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B7389-421D-440E-8A83-96C266AC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4A0E3-0E11-4EC4-B8EC-EC837C10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Fraud patterns change faster than static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1F5CB-1405-417F-894E-9BD53E92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53B49-CB2E-4648-B325-55166A9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630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Rule-based checks are rigid and require constant manual updates.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19D8F-F839-46A5-8404-9E406BC5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E0652-AB39-4FA1-8F44-855528B6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630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Standalone classifiers can overfit and vary across changing transaction patterns.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E18AA-8E4F-4855-B956-A183F227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5E682-35BD-485B-AFD8-6385EDD1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630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Fraud is rare: the brief describes a class share below 0.15%.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6A09B-6E0F-4CBF-823F-A1D6EC9F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F0111-E445-4B1D-AF6A-5B7FC162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630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False alarms burden investigators; missed fraud creates direct loss.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6AE27-243F-44E4-813D-1F4F2817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3143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576C7-779C-4AE7-BF8D-0033A884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14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THE DATA CHALLENGE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689EF-A2F5-49B9-A1F4-A9183072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&lt; 0.15%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3AAB6-D5FB-4DE2-AD29-12DF6B06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fraudulent transactions in the supplied problem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CC9FB-6D8A-495C-A7F5-75ABB4B0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B9D47-3E63-4F82-BCF3-AFE07636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05325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A detector must learn rare patterns while keeping evaluation leakage-free.</a:t>
            </a:r>
          </a:p>
        </p:txBody>
      </p:sp>
    </p:spTree>
    <p:extLst>
      <p:ext uri="{BB962C8B-B14F-4D97-AF65-F5344CB8AC3E}">
        <p14:creationId xmlns:p14="http://schemas.microsoft.com/office/powerpoint/2010/main" val="347998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0D3575-BD04-4E53-A130-54C030A6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5FF0F-9FAC-45FB-970F-2E1C780F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02 · ABSTRACT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40FEA-3373-4CF2-88EC-1F2CE6FA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Abstract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A81C6-930A-4580-A9C5-D8873037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7DC3D-A525-4D03-94F9-9AB53C63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BCB"/>
                </a:solidFill>
                <a:latin typeface="Arial"/>
                <a:ea typeface="Arial"/>
                <a:cs typeface="Arial"/>
              </a:rPr>
              <a:t>FRAUDGUARD AI  •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C5EA5-3333-4AE4-AC59-5DCA72D6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31586-15EE-4835-8810-8872B5BB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FraudGuard AI combines imbalance-aware training, two boosted-tree models, and secure transaction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FC7CA-F8B8-42A6-A8AA-A767CCAF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BA757-C6EF-4F01-B978-0004EC4F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332D3-86D6-4DEC-A654-00587BC0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PaySim mobile payment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45797-581D-474F-B8DC-FB9F8AF1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72307-0623-418B-9ABB-04CC4BFB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90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D9863-DF2B-4520-A02D-67E83168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8137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CatBoost + XGBoost probabilities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393D8-2430-4EF2-985C-A55720B4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81300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0FF10-0DD3-4F4B-8239-71771FAA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ENSEMBLE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7C67B-28F0-48B3-9FE5-C6EBB282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8137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Soft voting combines model scores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4325F-9A6B-4D69-9AF4-AA1C639D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81300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40831-2002-4A59-AA86-D8C4E4F8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990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0687E-9F97-455A-AF3D-142C2105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8137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Python inference + Java core +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C8DEE-6DBB-4444-8EBF-5BECF3BF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381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BBCB"/>
                </a:solidFill>
                <a:latin typeface="Arial"/>
                <a:ea typeface="Arial"/>
                <a:cs typeface="Arial"/>
              </a:rPr>
              <a:t>Project-reported test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AC048-D4BE-45B9-B80C-C2C2D7B7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0889E7-80A0-45B2-8C53-A2F8A12D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625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99.91%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BF3741-73DC-4CD1-9F4A-73B6E59C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95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744880-AE69-4945-8D0A-65C751EB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3625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98.92%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9B117-7D5B-4CC1-A61D-A105A270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95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E95027-CBD9-4B62-9BAF-BAC2B434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625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97.45%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B984AA-EB5B-4E12-84AE-EB66018C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95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6E0E80-CC79-4F95-970B-ECEED4A0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625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0.9818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0EBCCA-519F-437D-A2C3-9A3D48F0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95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ROC–AUC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EBF964-2CF9-4B05-A8A3-B0348571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3625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0.9994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D98350-EB06-4C2E-9F2C-9CA944A8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Reported values are from the supplied project brief/report; validate against the saved evaluation output before defense.</a:t>
            </a:r>
          </a:p>
        </p:txBody>
      </p:sp>
    </p:spTree>
    <p:extLst>
      <p:ext uri="{BB962C8B-B14F-4D97-AF65-F5344CB8AC3E}">
        <p14:creationId xmlns:p14="http://schemas.microsoft.com/office/powerpoint/2010/main" val="213655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9052F-8541-4138-AB4D-B8FF180A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83A5D-A990-42FD-B297-180C3AFA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03 ·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BEA9D-6100-4A47-84EB-D6C5FFA8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DD9A1-A705-42FA-88B0-6ED8F051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8F3DD-BD26-4375-9798-55B72D31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BCB"/>
                </a:solidFill>
                <a:latin typeface="Arial"/>
                <a:ea typeface="Arial"/>
                <a:cs typeface="Arial"/>
              </a:rPr>
              <a:t>FRAUDGUARD AI  •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83BC8-5D49-40AE-881F-6D8ED285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AD40E-8DA0-4844-9DE3-4070F2FA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Digital payments create speed and reach—and a larger attack surface.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86D78-BBA0-4167-ADE5-B89D379D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38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1F940-0379-4A1E-9634-CDB290B1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PAYMENT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03F58-6E76-4DC5-9BB2-2D985D1F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914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Transactions arrive continuously across mobile and online channels.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5507D-1548-450A-8DF3-1EE1DEF5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38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12878-FB9E-4746-B92C-F9F9EB76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A8FF"/>
                </a:solidFill>
                <a:latin typeface="Arial"/>
                <a:ea typeface="Arial"/>
                <a:cs typeface="Arial"/>
              </a:rPr>
              <a:t>RISK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514E3-F6DC-4EA5-A663-C70FA60E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2914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Amount, type, timing, and account balance changes can reveal suspicious behavior.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11BE7-CF3D-4110-9258-3073FDF0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38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241AF-6286-4F19-B6E1-07BD638F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66D"/>
                </a:solidFill>
                <a:latin typeface="Arial"/>
                <a:ea typeface="Arial"/>
                <a:cs typeface="Arial"/>
              </a:rPr>
              <a:t>DECISION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233B0-5DF3-494B-B396-F341D28B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2914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Risk scores and explanations help analysts prioritize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6C9C0-82D3-4080-91AC-58A9B2B2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40A63-D3BB-40BA-85BF-9EE57F64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Detect suspicious payments in near real time, record decisions, and present understandable risk drivers to authorized users.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BF02F-C0E1-41E9-95E6-AEEB2EFB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PaySim is a synthetic mobile-money benchmark; results do not by themselves establish live-bank performance.</a:t>
            </a:r>
          </a:p>
        </p:txBody>
      </p:sp>
    </p:spTree>
    <p:extLst>
      <p:ext uri="{BB962C8B-B14F-4D97-AF65-F5344CB8AC3E}">
        <p14:creationId xmlns:p14="http://schemas.microsoft.com/office/powerpoint/2010/main" val="251679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89A01-6878-4117-A92A-92A57919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B16DD-3601-4133-B1A5-7D06487B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04 ·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FB2E5-4131-4044-A43C-10DC5229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Existing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43D5A-A927-4CD2-9BF9-2D5C636C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4B21D-482D-4C51-8E97-ECBDDC2F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BCB"/>
                </a:solidFill>
                <a:latin typeface="Arial"/>
                <a:ea typeface="Arial"/>
                <a:cs typeface="Arial"/>
              </a:rPr>
              <a:t>FRAUDGUARD AI  •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DE659-AC84-4AAC-9A85-0A032034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60B4D-6F6D-4F72-9686-D9C7FBF3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381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088F4-3CC4-4158-BC64-AF0ACC76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66D"/>
                </a:solidFill>
                <a:latin typeface="Arial"/>
                <a:ea typeface="Arial"/>
                <a:cs typeface="Arial"/>
              </a:rPr>
              <a:t>Rule-based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BED86-D157-4734-B221-5900EC4F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2819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Transparent rules are easy to explain, but need manual updates and can miss new patterns.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172BA-0367-421B-AB18-A1B3C8D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381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DF3FA-8F33-42EC-93B4-459BEA15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A8FF"/>
                </a:solidFill>
                <a:latin typeface="Arial"/>
                <a:ea typeface="Arial"/>
                <a:cs typeface="Arial"/>
              </a:rPr>
              <a:t>Single ML classifier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32AB9-3661-41CE-8AF2-85B41087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71725"/>
            <a:ext cx="2819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Can learn nonlinear relationships, yet remains sensitive to imbalance, overfitting, and threshold choice.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B6C14-59D3-4074-A66A-8E5FD6FF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81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614AD-FCE8-4170-B8D9-A07E7C73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Fraud 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11442-1B0E-468D-959A-7067F505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71725"/>
            <a:ext cx="2819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Analysts need practical prioritization, traceability, and enough context to review alerts.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E5402-66C7-49DA-A445-E2EF3C8E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Design gap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75F32-1B73-4C27-B4CE-C0FCC44A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Join stronger detection with disciplined evaluation, secure access, audit history, and readable explanations.</a:t>
            </a:r>
          </a:p>
        </p:txBody>
      </p:sp>
    </p:spTree>
    <p:extLst>
      <p:ext uri="{BB962C8B-B14F-4D97-AF65-F5344CB8AC3E}">
        <p14:creationId xmlns:p14="http://schemas.microsoft.com/office/powerpoint/2010/main" val="1996440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433448-F27E-4E7A-BB8C-87AC2C72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3CFD4-081C-4CB5-85AD-AB529FED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05 ·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DD679-7FBF-478A-8EDA-255B3A7A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Proposed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398DE-A9DE-40CE-A9CC-7082892C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A08A5-1C23-4D27-A52F-6A037C24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BCB"/>
                </a:solidFill>
                <a:latin typeface="Arial"/>
                <a:ea typeface="Arial"/>
                <a:cs typeface="Arial"/>
              </a:rPr>
              <a:t>FRAUDGUARD AI  •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B8656-A8AB-409A-9DCF-9A97F16D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73676-230E-4B61-93D3-174B3343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A leakage-aware ensemble supports a complete review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B9EC0-C230-4854-9986-F2EFB874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6383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2CF11-0CB0-44D2-8B06-F0D30C3E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7139E-9A68-42E7-8CEE-1513995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623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180BD-172B-4E91-A00A-5322255E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Stratified train /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23B09-CDB4-4D2F-A8AD-02CF51FF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76625"/>
            <a:ext cx="209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86629-8F59-4ED3-AB0E-285CC44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86050"/>
            <a:ext cx="16383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759BA-BE83-4D6C-959C-BF7929A8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765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9F61A-27A2-433D-97B8-B08518A3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623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8FF43-13BA-423D-948E-C090DADD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7190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PCA/scaling fit on train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C69BD-CEB5-4BC2-985E-0F9BA8E5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76625"/>
            <a:ext cx="209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558D3-DC55-43E0-A22C-D626CF46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16383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A55A5-43D7-419D-9049-CF458691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765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BA2A4-DC21-43A4-9164-9AE45772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623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Balance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FBEE2-1966-416A-92F6-5FDD0E23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7190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SMOTE on train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3E22D-0D43-4F20-93D8-23C15610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209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FDF1F-4711-43BB-8B22-0B090AF4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16383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BDBBD9-2CF8-437C-B910-B6B651BD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870E9-C323-474E-A7A9-16A3907A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623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8166A-2E72-4790-9903-F60059D6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CatBoost + XGBoost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8845D0-55A0-4FA3-BE51-97EB2EAA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209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4B364-EB6A-47C7-8FC6-AA7DC93C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16383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EBF3EE-C44C-4575-B0F7-7D16D148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D317FF-2653-47D3-A046-8FC10A5D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623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Combine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12E657-A29E-4C77-815A-2FACE589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7190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Soft voting of probabilities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D4D99A-358A-4A6D-9E9B-8B5A5265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76625"/>
            <a:ext cx="209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1CDA3A-4DD8-4D68-8594-E61474FE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86050"/>
            <a:ext cx="16383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0CDE0B-D12F-4675-8B94-3DE8B692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421426-C83C-4C18-B95A-BAE9E6BF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623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F357B4-F8C2-48A4-9692-4C689D73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7190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Risk score + human-readable drivers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EB3314-F7C6-4C18-BF4D-C04CB2C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Inference path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5029B9-2E0B-4814-9354-EA594B5C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Transaction → model probabilities → ensemble score → thresholded alert → analyst review + audit record</a:t>
            </a:r>
          </a:p>
        </p:txBody>
      </p:sp>
    </p:spTree>
    <p:extLst>
      <p:ext uri="{BB962C8B-B14F-4D97-AF65-F5344CB8AC3E}">
        <p14:creationId xmlns:p14="http://schemas.microsoft.com/office/powerpoint/2010/main" val="6124364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5A359C-F8A8-4DF9-A8C1-E874D51C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4DDEC-B4A7-4AF6-98A8-91CFE6B7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06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E852F-D6AE-48B6-A03A-410526CD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A4827-9BC5-4857-A991-46296AFA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B79AF-2F15-4CE3-8560-D0517A5D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BCB"/>
                </a:solidFill>
                <a:latin typeface="Arial"/>
                <a:ea typeface="Arial"/>
                <a:cs typeface="Arial"/>
              </a:rPr>
              <a:t>FRAUDGUARD AI  •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6D860-D3A9-467C-844E-9C392654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952AA-2965-4F55-A2BF-DD8681B3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190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36D6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5A68B-F432-48CE-BC60-F093BB98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CFD00-EFF0-4CFB-A6EC-0F04CEC1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AB179-1D8A-4F31-A9AC-82A5ED01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1885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HTML5 · CSS3 · Vanilla JS</a:t>
            </a:r>
          </a:p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Chart.js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4B4C7-C198-43B6-BC89-929832EE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190750"/>
            <a:ext cx="2762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62A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9DC3B-A4AD-4967-8345-F8EA7328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003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2A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A8FF"/>
                </a:solidFill>
                <a:latin typeface="Arial"/>
                <a:ea typeface="Arial"/>
                <a:cs typeface="Arial"/>
              </a:rPr>
              <a:t>CORE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8E601-962D-4097-8228-2B10264F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81300"/>
            <a:ext cx="245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F08AC-2B57-43A5-A803-3E91D925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19425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Java 21 · Spring Boot 3.x</a:t>
            </a:r>
          </a:p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Security · JWT · RBAC · 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5E983-DE64-49EA-9A8C-3CD5D724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4955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FFB6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4795A-AA60-4FA3-AF2A-AE01835F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00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B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66D"/>
                </a:solidFill>
                <a:latin typeface="Arial"/>
                <a:ea typeface="Arial"/>
                <a:cs typeface="Arial"/>
              </a:rPr>
              <a:t>ML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0F4E3-0213-4BC5-AE45-6F5B3B7F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CD14A-F57E-40B2-BE8C-D4166370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1942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Python · Flask / FastAPI</a:t>
            </a:r>
          </a:p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Preprocess · CatBoost · XGBoost</a:t>
            </a:r>
          </a:p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Soft voting · explanations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AA7A1-21EA-4C08-BE58-EFF16C68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2000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6CE0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2BD148-1DE9-41D5-A54B-64182D68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0030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CE0B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CE0B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CE0B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CE0B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CE0B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CE0B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CE0B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CE0B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CE0B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CE0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CE0B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CE0B2"/>
                </a:solidFill>
                <a:latin typeface="Arial"/>
                <a:ea typeface="Arial"/>
                <a:cs typeface="Arial"/>
              </a:rPr>
              <a:t>DATA 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2A644-ED8A-4DB3-954A-718D0247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81300"/>
            <a:ext cx="1695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F42A0-51DF-41A5-AAFD-994A6EB6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19425"/>
            <a:ext cx="1695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MySQL 8.x</a:t>
            </a:r>
          </a:p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Users · transactions</a:t>
            </a:r>
          </a:p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alerts · audit 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3FF90E-5A1A-41FA-9798-0FD33392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38475"/>
            <a:ext cx="381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528456-C5B1-43DB-9BBC-5D6F1A9C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38475"/>
            <a:ext cx="4572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D9466D-62C5-4592-AAEB-E6D5F462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38475"/>
            <a:ext cx="476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0A97D9-1817-4DF5-8D28-8926380A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38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8"/>
          </a:solidFill>
          <a:ln xmlns:a="http://schemas.openxmlformats.org/drawingml/2006/main" w="9525">
            <a:solidFill>
              <a:srgbClr val="2C4A6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5C481-AD23-4CE5-A314-F9F230CA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720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1D8A9-2711-4DEC-832E-F31D6C89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24450"/>
            <a:ext cx="833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Score → save prediction → return risk and explanation → surface alert in 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2D7218-45C3-4D37-A992-3D1ADD14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JWT-secured APIs  •  Role-based access  •  Audit logging</a:t>
            </a:r>
          </a:p>
        </p:txBody>
      </p:sp>
    </p:spTree>
    <p:extLst>
      <p:ext uri="{BB962C8B-B14F-4D97-AF65-F5344CB8AC3E}">
        <p14:creationId xmlns:p14="http://schemas.microsoft.com/office/powerpoint/2010/main" val="1994117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D7CF67-5582-4FF3-9608-9B27423F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90338-85EA-4585-8D48-B31BF51A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07 ·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4F334-FF9F-4C48-9E6D-201F8153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Language and software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EF933-6E3F-429B-B4F6-71030041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3CEC7-E527-4B17-B9A4-5F84FBE8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BCB"/>
                </a:solidFill>
                <a:latin typeface="Arial"/>
                <a:ea typeface="Arial"/>
                <a:cs typeface="Arial"/>
              </a:rPr>
              <a:t>FRAUDGUARD AI  •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C3B87-8684-425F-A372-319520BA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7C1E9-249E-41CA-AF1D-AA5D5E04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6DB7B-5F9C-4D8B-9EA6-3B28AA94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E5E79-705B-4B81-BC8C-64103EB6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288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HTML5 · CSS3 · Vanilla JavaScript · Chart.js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1D428-9B91-4DBF-ABD6-09680DA0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Core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13D0C-AB91-46D5-A44E-CBEAFB4A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98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79ECE-4D80-434C-9319-4E4A5A1B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Java 21 · Spring Boot 3.x · Spring Security 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D4337-CE0D-43CC-AD15-268FF451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ML 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F1898-3093-4599-85B2-4D850C0A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099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3CE99-ECCA-4F36-A622-BD37BE4D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Python 3.11+ · Flask / FastAPI · CatBoost · XGBoost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2DF77-DD3F-40EF-8A9C-78182562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Data &amp; persistence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34090-59F5-4565-9336-3611F397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6172D-B145-492E-A39B-48D20EA8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PaySim CSV · MySQL 8.x (H2 local option)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0B099-C875-4C8F-9CDA-C32204DC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Build &amp;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E0970-7D2C-4CEE-ABEC-AA974D45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2314CD-16C1-4565-835B-846A5A7B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292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Maven · Docker Compose · REST / JSON · JWT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47D82-8E35-4A24-B1DA-744D38B7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BBCB"/>
                </a:solidFill>
                <a:latin typeface="Arial"/>
                <a:ea typeface="Arial"/>
                <a:cs typeface="Arial"/>
              </a:rPr>
              <a:t>Deployment split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6A14A-3EEA-4633-AAAB-A1EB39C5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055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Python handles model inference; Java manages application workflows and security.</a:t>
            </a:r>
          </a:p>
        </p:txBody>
      </p:sp>
    </p:spTree>
    <p:extLst>
      <p:ext uri="{BB962C8B-B14F-4D97-AF65-F5344CB8AC3E}">
        <p14:creationId xmlns:p14="http://schemas.microsoft.com/office/powerpoint/2010/main" val="334511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CC4145-8357-4056-A95A-092B87A0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BF513-E1C2-441D-9688-F755EB60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08 ·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0BF2F-1DE0-4CC6-80C3-E159B2F5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System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C305D-A279-4F03-B2D7-A78CB49B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939CB-F186-46A6-A444-684427D7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BCB"/>
                </a:solidFill>
                <a:latin typeface="Arial"/>
                <a:ea typeface="Arial"/>
                <a:cs typeface="Arial"/>
              </a:rPr>
              <a:t>FRAUDGUARD AI  •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40157-FB7C-4909-A0A2-C94AF2F8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41AC3-DBAB-42CA-B6C9-DCA28BE3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82379-F49F-4FF9-A3A4-F229B8BD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621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Authentication &amp;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A34E3-27E4-44B7-B571-08870A18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621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JWT login, Spring Security, role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78CEF-7F73-475D-8EC7-6B6C8E38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404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1EA8B-16AB-4E23-9A0B-32B57392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B4ED0-C986-49CD-93B9-73014F55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621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Transaction intake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1CD25-5AC3-4F50-BCE9-361564C8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621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Single-entry scoring and CSV batch upload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4F911-B6AC-43BA-8BF4-84F90CE9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38450"/>
            <a:ext cx="404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50D22-7182-44FE-9026-67566439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CB7AF-A647-4CE2-89DC-2EB7FF1F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90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ML inference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52DAD-3D29-4756-9B5E-0F4157CD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909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Feature preparation, two models, soft-vote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F87FA-E903-4166-802D-CF307F3F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67200"/>
            <a:ext cx="404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57CE0-3D54-4FE9-86CF-CD06EB50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90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33DFB-41AE-432B-9DFC-98B385A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90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Risk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7ECBA-24A3-42C7-96D2-B266852E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909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Risk level and natural-language driver summary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E132A5-D9FC-4312-BAE1-088A2FA5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67200"/>
            <a:ext cx="404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8D664D-2560-4D47-B183-230246E2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673C1-4F19-477C-9058-3491DB6F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9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Alerts &amp;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FBB50A-4897-4592-B4E9-5F7E84A3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96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Fraud alert status and analyst remarks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3336E-5F74-43B0-BF5A-60E2BADF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95950"/>
            <a:ext cx="404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E5782A-0B91-4F06-B589-7B319E4B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19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39022C-A27D-47DB-B956-BC5ED9E0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9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Dashboard &amp; audit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FDC913-1FA0-4981-B781-BA30E7CF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96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Metrics, trends, prediction history, audit logs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089A2B-2EF7-41B6-97EB-A7F8943A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95950"/>
            <a:ext cx="404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68990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37D1E-F215-4C6B-99B3-74AD20E8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151A3-7B00-418A-A779-4729EE95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09 ·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384EA-A67F-472B-AC24-E4DEB119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A7111-61EC-45C1-98D0-6EED244C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52976-E07E-4D3E-8527-D4B8069F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BCB"/>
                </a:solidFill>
                <a:latin typeface="Arial"/>
                <a:ea typeface="Arial"/>
                <a:cs typeface="Arial"/>
              </a:rPr>
              <a:t>FRAUDGUARD AI  •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8A8E7-1B79-48E4-8012-BF92B05A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F35D2-6BCF-48B4-A819-11BE359A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FraudGuard AI connects model scoring to a reviewable application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74ADE-077B-4516-A2DB-DB510C3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BA4E6-780A-4CCE-9E9E-8DA2B3B4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9258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CatBoost and XGBoost contribute complementary fraud probabilities.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8EFE1-08AE-48C7-93ED-F7F43DD0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808EF-F6DD-48BE-95F5-B7439BC6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9258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Train-only SMOTE and preprocessing preserve a separated test evaluation.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36A69-8014-4F2A-B123-EE952C6D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718A7-CE12-445F-9BD2-D44B8AB5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9258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JWT/RBAC, persistence, alerts, and audit logs support operational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EA8D2-9834-47FC-AEDF-943C8B52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815AC-6786-40ED-8CB3-704D3D70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9258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Human-readable drivers make risk scores easier to investigate.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C64A1-22D4-436E-BEB4-6C878D9D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DD650-016B-45F4-AED6-236DCAA4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Next steps: reproduce the reported metrics, verify the cited paper details, and assess drift and real-world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6908123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118567-153E-426F-93BE-D4747351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0C0CB-19AF-4D9C-BEC2-4893AF73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10 ·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C23FE-34F4-4F4F-B6EB-9A77DF88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8F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9EA05-639C-473D-AA42-4C744D78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4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D5775-C2CF-4BCC-BFE2-97DA4118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733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BCB"/>
                </a:solidFill>
                <a:latin typeface="Arial"/>
                <a:ea typeface="Arial"/>
                <a:cs typeface="Arial"/>
              </a:rPr>
              <a:t>FRAUDGUARD AI  • 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F9AA9-43E5-407B-94CA-56D5E605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0C802-71D8-424C-9DD6-61F8C9D3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F5792-4DDF-484F-B08B-FE12B8E0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5735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Chen, T. &amp; Guestrin, C. (2016). XGBoost: A Scalable Tree Boosting System. KDD. DOI: 10.1145/2939672.2939785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F03DA-07F2-4BA9-B48A-46FB5B44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FE299-8D7A-4D55-814C-F4D64F4E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Prokhorenkova, L. et al. (2018). CatBoost: Unbiased Boosting with Categorical Features. NeurIPS 31.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81914-F846-4579-BB93-9C7B7846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86B01-FACA-42CF-A824-20C63C34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Chawla, N. V. et al. (2002). SMOTE: Synthetic Minority Over-sampling Technique. JAIR 16, 321–357. DOI: 10.1613/jair.953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E1252-84F8-4821-8AA8-47F56111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329C2-6A30-494B-A523-4C4FE829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Lopez-Rojas, E. A., Elmir, A. &amp; Axelsson, S. (2016). PaySim: A Financial Mobile Money Simulator for Fraud Detection. EMSS.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1EE8A-E7CD-4408-8A10-B6D8BB58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15A17-6963-4EEE-A31D-0A8E946D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8FC"/>
                </a:solidFill>
                <a:latin typeface="Arial"/>
                <a:ea typeface="Arial"/>
                <a:cs typeface="Arial"/>
              </a:rPr>
              <a:t>Project materials: README.md and PROJECT_REPORT.md in the FraudGuard AI workspace.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18667-8064-4FD6-8A0F-6545114D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6D6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D6C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B31E1-675F-4C2C-9CAB-F147DDF2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1019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FB66D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FB66D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FB66D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FB66D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FB66D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FB66D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FB66D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FB66D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FB66D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FB6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B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B66D"/>
                </a:solidFill>
                <a:latin typeface="Arial"/>
                <a:ea typeface="Arial"/>
                <a:cs typeface="Arial"/>
              </a:rPr>
              <a:t>Citation supplied in prompt: Yan Liu, Jing Li, Jeevanthi Srikanth &amp; Hema Purnima Jethanil; International Journal of Computer Applications in Technology; “Volume 475.” Verify title, volume, issue, pages, and DOI before submission.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88821-35AA-468E-92D2-3ECE77C1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9BBC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BCB"/>
                </a:solidFill>
                <a:latin typeface="Arial"/>
                <a:ea typeface="Arial"/>
                <a:cs typeface="Arial"/>
              </a:rPr>
              <a:t>Bibliographic details are reproduced from the project report or supplied brief; unresolved details are flagged above.</a:t>
            </a:r>
          </a:p>
        </p:txBody>
      </p:sp>
    </p:spTree>
    <p:extLst>
      <p:ext uri="{BB962C8B-B14F-4D97-AF65-F5344CB8AC3E}">
        <p14:creationId xmlns:p14="http://schemas.microsoft.com/office/powerpoint/2010/main" val="261049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2026-10-23T14:38:54.5930000Z</dcterms:created>
  <dcterms:modified xsi:type="dcterms:W3CDTF">2026-10-23T14:38:54.5940000Z</dcterms:modified>
</coreProperties>
</file>